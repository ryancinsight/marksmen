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Sz cx="9144000" cy="6858000" type="screen16x9"/>
  <p:notesSz cx="6858000" cy="9144000"/>
  <p:sldIdLst>
    <p:sldId id="257" r:id="rId3"/>
    <p:sldId id="258" r:id="rId4"/>
    <p:sldId id="259" r:id="rId5"/>
    <p:sldId id="260" r:id="rId6"/>
    <p:sldId id="261" r:id="rId7"/>
    <p:sldId id="262" r:id="rId8"/>
    <p:sldId id="263" r:id="rId9"/>
  </p:sldIdLst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3" Type="http://schemas.openxmlformats.org/officeDocument/2006/relationships/slide" Target="slides/slide1.xml"/>
  <Relationship Id="rId4" Type="http://schemas.openxmlformats.org/officeDocument/2006/relationships/slide" Target="slides/slide2.xml"/>
  <Relationship Id="rId5" Type="http://schemas.openxmlformats.org/officeDocument/2006/relationships/slide" Target="slides/slide3.xml"/>
  <Relationship Id="rId6" Type="http://schemas.openxmlformats.org/officeDocument/2006/relationships/slide" Target="slides/slide4.xml"/>
  <Relationship Id="rId7" Type="http://schemas.openxmlformats.org/officeDocument/2006/relationships/slide" Target="slides/slide5.xml"/>
  <Relationship Id="rId8" Type="http://schemas.openxmlformats.org/officeDocument/2006/relationships/slide" Target="slides/slide6.xml"/>
  <Relationship Id="rId9" Type="http://schemas.openxmlformats.org/officeDocument/2006/relationships/slide" Target="slides/slide7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p="http://schemas.openxmlformats.org/presentationml/2006/main">
  <p:cSld>
    <p:spTree>
      <p:nvGrpSpPr>
        <p:cNvPr id="1" name=""/>
        <p:cNvGrpSpPr/>
        <p:nvPr/>
      </p:nvGrpSpPr>
      <p:grpSpPr/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p="http://schemas.openxmlformats.org/presentationml/2006/main">
  <p:cSld>
    <p:bg>
      <p:bgPr>
        <p:solidFill>
          <p:srgbClr val="ffffff"/>
        </p:solidFill>
      </p:bgPr>
    </p:bg>
    <p:spTree>
      <p:nvGrpSpPr>
        <p:cNvPr id="1" name=""/>
        <p:cNvGrpSpPr/>
        <p:nvPr/>
      </p:nvGrpSpPr>
      <p:grpSpPr/>
    </p:spTree>
  </p:cSld>
  <p:sldLayoutIdLst>
    <p:sldLayoutId xmlns:r="http://schemas.openxmlformats.org/officeDocument/2006/relationships"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600200"/>
            <a:ext cx="8229600" cy="2000000"/>
          </a:xfrm>
        </p:spPr>
        <p:txBody>
          <a:bodyPr/>
          <a:lstStyle/>
          <a:p>
            <a:pPr algn="ctr"/>
            <a:r>
              <a:rPr lang="en-US" sz="4400" b="1" dirty="0"/>
              <a:t>Output Capabilities &amp; Typst Extensibility</a:t>
            </a:r>
          </a:p>
        </p:txBody>
      </p:sp>
      <p:sp>
        <p:nvSpPr>
          <p:cNvPr id="3" name="Body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1143000"/>
          </a:xfrm>
        </p:spPr>
        <p:txBody>
          <a:bodyPr/>
          <a:lstStyle/>
          <a:p>
            <a:pPr/>
            <a:r>
              <a:rPr lang="en-US" sz="4400" b="1" dirty="0"/>
              <a:t>1. Document Headers &amp; Configuration</a:t>
            </a:r>
          </a:p>
        </p:txBody>
      </p:sp>
      <p:sp>
        <p:nvSpPr>
          <p:cNvPr id="3" name="Body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marL="342900" indent="0" lvl="0"/>
            <a:r>
              <a:rPr lang="en-US" dirty="0"/>
              <a:t>Headers, footers, and page numbers are intrinsically supported via YAML frontmatter blocks. For example, this document has a custom footer string.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1143000"/>
          </a:xfrm>
        </p:spPr>
        <p:txBody>
          <a:bodyPr/>
          <a:lstStyle/>
          <a:p>
            <a:pPr/>
            <a:r>
              <a:rPr lang="en-US" sz="4400" b="1" dirty="0"/>
              <a:t>2. Advanced Typography &amp; Tables</a:t>
            </a:r>
          </a:p>
        </p:txBody>
      </p:sp>
      <p:sp>
        <p:nvSpPr>
          <p:cNvPr id="3" name="Body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marL="342900" indent="0" lvl="0"/>
            <a:r>
              <a:rPr lang="en-US" dirty="0"/>
              <a:t>Because the intermediate format is Typst, typography is mathematically precise. Let's look at a standard Markdown table:</a:t>
            </a:r>
          </a:p>
          <a:p>
            <a:pPr marL="342900" indent="0" lvl="0"/>
            <a:r>
              <a:rPr lang="en-US" sz="2800" dirty="0"/>
              <a:t>2.1 CSS &amp; HTML Handling</a:t>
            </a:r>
          </a:p>
          <a:p>
            <a:pPr marL="342900" indent="0" lvl="0"/>
            <a:r>
              <a:rPr lang="en-US" dirty="0"/>
              <a:t>Typst is an analytical typesetting engine, </a:t>
            </a:r>
            <a:r>
              <a:rPr lang="en-US" b="1" dirty="0"/>
              <a:t>not a web browser</a:t>
            </a:r>
            <a:r>
              <a:rPr lang="en-US" dirty="0"/>
              <a:t>. It cannot execute CSS or complex DOM layouts. However, the translator enforces semantic mapping for structural inline HTML subsets:</a:t>
            </a:r>
          </a:p>
          <a:p>
            <a:pPr marL="342900" indent="-342900" lvl="0"/>
            <a:r>
              <a:rPr lang="en-US" dirty="0"/>
              <a:t>• </a:t>
            </a:r>
            <a:r>
              <a:rPr lang="en-US" b="1" dirty="0"/>
              <a:t>Underline</a:t>
            </a:r>
            <a:r>
              <a:rPr lang="en-US" dirty="0"/>
              <a:t>: </a:t>
            </a:r>
            <a:r>
              <a:rPr lang="en-US" dirty="0"/>
              <a:t>This text is underlined</a:t>
            </a:r>
            <a:r>
              <a:rPr lang="en-US" dirty="0"/>
              <a:t> via </a:t>
            </a:r>
            <a:r>
              <a:rPr lang="en-US" dirty="0">
                <a:latin typeface="Courier New"/>
              </a:rPr>
              <a:t>&lt;u&gt;</a:t>
            </a:r>
          </a:p>
          <a:p>
            <a:pPr marL="342900" indent="-342900" lvl="0"/>
            <a:r>
              <a:rPr lang="en-US" dirty="0"/>
              <a:t>• </a:t>
            </a:r>
            <a:r>
              <a:rPr lang="en-US" b="1" dirty="0"/>
              <a:t>Subscripts</a:t>
            </a:r>
            <a:r>
              <a:rPr lang="en-US" dirty="0"/>
              <a:t>: H</a:t>
            </a:r>
            <a:r>
              <a:rPr lang="en-US" dirty="0"/>
              <a:t>2</a:t>
            </a:r>
            <a:r>
              <a:rPr lang="en-US" dirty="0"/>
              <a:t>O via </a:t>
            </a:r>
            <a:r>
              <a:rPr lang="en-US" dirty="0">
                <a:latin typeface="Courier New"/>
              </a:rPr>
              <a:t>&lt;sub&gt;</a:t>
            </a:r>
          </a:p>
          <a:p>
            <a:pPr marL="342900" indent="-342900" lvl="0"/>
            <a:r>
              <a:rPr lang="en-US" dirty="0"/>
              <a:t>• </a:t>
            </a:r>
            <a:r>
              <a:rPr lang="en-US" b="1" dirty="0"/>
              <a:t>Superscripts</a:t>
            </a:r>
            <a:r>
              <a:rPr lang="en-US" dirty="0"/>
              <a:t>: E = mc</a:t>
            </a:r>
            <a:r>
              <a:rPr lang="en-US" dirty="0"/>
              <a:t>2</a:t>
            </a:r>
            <a:r>
              <a:rPr lang="en-US" dirty="0"/>
              <a:t> via </a:t>
            </a:r>
            <a:r>
              <a:rPr lang="en-US" dirty="0">
                <a:latin typeface="Courier New"/>
              </a:rPr>
              <a:t>&lt;sup&gt;</a:t>
            </a:r>
          </a:p>
          <a:p>
            <a:pPr marL="342900" indent="-342900" lvl="0"/>
            <a:r>
              <a:rPr lang="en-US" dirty="0"/>
              <a:t>• </a:t>
            </a:r>
            <a:r>
              <a:rPr lang="en-US" b="1" dirty="0"/>
              <a:t>Colors</a:t>
            </a:r>
            <a:r>
              <a:rPr lang="en-US" dirty="0"/>
              <a:t>: </a:t>
            </a:r>
            <a:r>
              <a:rPr lang="en-US" dirty="0"/>
              <a:t>This text</a:t>
            </a:r>
            <a:r>
              <a:rPr lang="en-US" dirty="0"/>
              <a:t> is colored via </a:t>
            </a:r>
            <a:r>
              <a:rPr lang="en-US" dirty="0">
                <a:latin typeface="Courier New"/>
              </a:rPr>
              <a:t>&lt;span style="color: ..."&gt;</a:t>
            </a:r>
          </a:p>
          <a:p>
            <a:pPr marL="342900" indent="-342900" lvl="0"/>
            <a:r>
              <a:rPr lang="en-US" dirty="0"/>
              <a:t>• </a:t>
            </a:r>
            <a:r>
              <a:rPr lang="en-US" b="1" dirty="0"/>
              <a:t>Line breaks</a:t>
            </a:r>
            <a:r>
              <a:rPr lang="en-US" dirty="0"/>
              <a:t>: Forced HTML break </a:t>
            </a:r>
            <a:r>
              <a:rPr lang="en-US" dirty="0"/>
              <a:t> is translated correctly.</a:t>
            </a:r>
          </a:p>
          <a:p>
            <a:pPr marL="342900" indent="0" lvl="0"/>
            <a:r>
              <a:rPr lang="en-US" i="1" dirty="0"/>
              <a:t>Note: Arbitrary </a:t>
            </a:r>
            <a:r>
              <a:rPr lang="en-US" i="1" dirty="0">
                <a:latin typeface="Courier New"/>
              </a:rPr>
              <a:t>&lt;div style="padding: 2px"&gt;</a:t>
            </a:r>
            <a:r>
              <a:rPr lang="en-US" i="1" dirty="0"/>
              <a:t> blocks are ignored, preserving architectural invariants against empirical DOM approximations.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4800000"/>
          <a:ext cx="8229600" cy="2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b="1" dirty="0"/>
                        <a:t>Subsystem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Underlying Tech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Role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Status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Parser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pulldown-cmark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Emits syntax events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✅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Translator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marksmen-core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Maps AST to Typst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✅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Compiler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typst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Typesets elements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✅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Exporter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typst-pdf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Emits binary format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✅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1143000"/>
          </a:xfrm>
        </p:spPr>
        <p:txBody>
          <a:bodyPr/>
          <a:lstStyle/>
          <a:p>
            <a:pPr/>
            <a:r>
              <a:rPr lang="en-US" sz="4400" b="1" dirty="0"/>
              <a:t>3. Mathematical Typesetting</a:t>
            </a:r>
          </a:p>
        </p:txBody>
      </p:sp>
      <p:sp>
        <p:nvSpPr>
          <p:cNvPr id="3" name="Body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marL="342900" indent="0" lvl="0"/>
            <a:r>
              <a:rPr lang="en-US" dirty="0"/>
              <a:t>True native math (without KaTeX SVG hacks):</a:t>
            </a:r>
            <a:r>
              <a:rPr lang="en-US" dirty="0"/>
              <a:t> </a:t>
            </a:r>
          </a:p>
          <a:p>
            <a:pPr algn="ctr"/>
            <a:r>
              <a:rPr lang="en-US" dirty="0">
                <a:latin typeface="Courier New"/>
              </a:rPr>
              <a:t>𝛢 
\mathbf{J} = \nabla \times \mathbf{H} = \sigma \mathbf{E} + \frac{\partial \mathbf{D}}{\partial t}
</a:t>
            </a:r>
          </a:p>
          <a:p>
            <a:pPr marL="342900" indent="0" lvl="0"/>
            <a:r>
              <a:rPr lang="en-US" dirty="0"/>
              <a:t>Inline equations like </a:t>
            </a:r>
            <a:r>
              <a:rPr lang="en-US" i="1" dirty="0">
                <a:latin typeface="Courier New"/>
              </a:rPr>
              <a:t>$\lim_{x \to \infty} f(x)$</a:t>
            </a:r>
            <a:r>
              <a:rPr lang="en-US" dirty="0"/>
              <a:t> blend seamlessly with the baseline.</a:t>
            </a:r>
          </a:p>
        </p:txBody>
      </p:sp>
    </p:spTree>
  </p:cSld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1143000"/>
          </a:xfrm>
        </p:spPr>
        <p:txBody>
          <a:bodyPr/>
          <a:lstStyle/>
          <a:p>
            <a:pPr/>
            <a:r>
              <a:rPr lang="en-US" sz="4400" b="1" dirty="0"/>
              <a:t>4. Linked SVG Figures</a:t>
            </a:r>
          </a:p>
        </p:txBody>
      </p:sp>
      <p:sp>
        <p:nvSpPr>
          <p:cNvPr id="3" name="Body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marL="342900" indent="0" lvl="0"/>
            <a:r>
              <a:rPr lang="en-US" dirty="0"/>
              <a:t>Instead of relying on web-based JS to render graphics, Typst handles </a:t>
            </a:r>
            <a:r>
              <a:rPr lang="en-US" dirty="0">
                <a:latin typeface="Courier New"/>
              </a:rPr>
              <a:t>SVG</a:t>
            </a:r>
            <a:r>
              <a:rPr lang="en-US" dirty="0"/>
              <a:t> vector embeddings natively without rasterization:</a:t>
            </a:r>
          </a:p>
          <a:p>
            <a:pPr marL="342900" indent="0" lvl="0"/>
            <a:r>
              <a:rPr lang="en-US" dirty="0"/>
              <a:t>Architecture Diagram</a:t>
            </a:r>
          </a:p>
        </p:txBody>
      </p:sp>
    </p:spTree>
  </p:cSld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1143000"/>
          </a:xfrm>
        </p:spPr>
        <p:txBody>
          <a:bodyPr/>
          <a:lstStyle/>
          <a:p>
            <a:pPr/>
            <a:r>
              <a:rPr lang="en-US" sz="4400" b="1" dirty="0"/>
              <a:t>5. Native Diagram Rendering ()</a:t>
            </a:r>
          </a:p>
        </p:txBody>
      </p:sp>
      <p:sp>
        <p:nvSpPr>
          <p:cNvPr id="3" name="Body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marL="342900" indent="0" lvl="0"/>
            <a:r>
              <a:rPr lang="en-US" dirty="0">
                <a:latin typeface="Courier New"/>
              </a:rPr>
              <a:t>marksmen-mermaid</a:t>
            </a:r>
            <a:r>
              <a:rPr lang="en-US" b="1" dirty="0"/>
              <a:t>Pure-Rust Mermaid Translation:</a:t>
            </a:r>
            <a:r>
              <a:rPr lang="en-US" dirty="0"/>
              <a:t> </a:t>
            </a:r>
            <a:r>
              <a:rPr lang="en-US" dirty="0"/>
              <a:t>Executing standard </a:t>
            </a:r>
            <a:r>
              <a:rPr lang="en-US" dirty="0">
                <a:latin typeface="Courier New"/>
              </a:rPr>
              <a:t>mermaid.js</a:t>
            </a:r>
            <a:r>
              <a:rPr lang="en-US" dirty="0"/>
              <a:t> typically requires evaluating an entire web runtime (V8/Browser) with empirical DOM measurement APIs, which violates our offline-first pure-Rust correctness guarantees.</a:t>
            </a:r>
          </a:p>
          <a:p>
            <a:pPr marL="342900" indent="0" lvl="0"/>
            <a:r>
              <a:rPr lang="en-US" i="1" dirty="0"/>
              <a:t>Instead, </a:t>
            </a:r>
            <a:r>
              <a:rPr lang="en-US" i="1" dirty="0">
                <a:latin typeface="Courier New"/>
              </a:rPr>
              <a:t>marksmen</a:t>
            </a:r>
            <a:r>
              <a:rPr lang="en-US" i="1" dirty="0"/>
              <a:t> relies on a mathematically-verified </a:t>
            </a:r>
            <a:r>
              <a:rPr lang="en-US" i="1" dirty="0">
                <a:latin typeface="Courier New"/>
              </a:rPr>
              <a:t>marksmen-mermaid</a:t>
            </a:r>
            <a:r>
              <a:rPr lang="en-US" i="1" dirty="0"/>
              <a:t> layout engine implementing the Sugiyama Framework. It parses this raw Mermaid block offline and renders it deterministically into Typst spatial vectors!</a:t>
            </a:r>
          </a:p>
          <a:p>
            <a:pPr/>
            <a:r>
              <a:rPr lang="en-US" i="1" dirty="0"/>
              <a:t>[Mermaid diagram: graph TD]</a:t>
            </a:r>
          </a:p>
        </p:txBody>
      </p:sp>
    </p:spTree>
  </p:cSld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1143000"/>
          </a:xfrm>
        </p:spPr>
        <p:txBody>
          <a:bodyPr/>
          <a:lstStyle/>
          <a:p>
            <a:pPr/>
            <a:r>
              <a:rPr lang="en-US" sz="4400" b="1" dirty="0"/>
              <a:t>Appendix: Mathematical Justifications</a:t>
            </a:r>
          </a:p>
        </p:txBody>
      </p:sp>
      <p:sp>
        <p:nvSpPr>
          <p:cNvPr id="3" name="Body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marL="342900" indent="0" lvl="0"/>
            <a:r>
              <a:rPr lang="en-US" dirty="0"/>
              <a:t>Because </a:t>
            </a:r>
            <a:r>
              <a:rPr lang="en-US" dirty="0">
                <a:latin typeface="Courier New"/>
              </a:rPr>
              <a:t>marksmen</a:t>
            </a:r>
            <a:r>
              <a:rPr lang="en-US" dirty="0"/>
              <a:t> leverages Typst, we can seamlessly write </a:t>
            </a:r>
            <a:r>
              <a:rPr lang="en-US" i="1" dirty="0">
                <a:latin typeface="Courier New"/>
              </a:rPr>
              <a:t>$e^(i pi) + 1 = 0$</a:t>
            </a:r>
            <a:r>
              <a:rPr lang="en-US" dirty="0"/>
              <a:t> in the middle of text, and be confident that it renders beautifully on a completely separated page.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</a:fillStyleLst>
      <a:lnStyleLst>
        <a:ln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